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16"/>
  </p:notesMasterIdLst>
  <p:sldIdLst>
    <p:sldId id="256" r:id="rId3"/>
    <p:sldId id="258" r:id="rId4"/>
    <p:sldId id="259" r:id="rId5"/>
    <p:sldId id="264" r:id="rId6"/>
    <p:sldId id="260" r:id="rId7"/>
    <p:sldId id="262" r:id="rId8"/>
    <p:sldId id="265" r:id="rId9"/>
    <p:sldId id="266" r:id="rId10"/>
    <p:sldId id="263" r:id="rId11"/>
    <p:sldId id="267" r:id="rId12"/>
    <p:sldId id="268" r:id="rId13"/>
    <p:sldId id="289" r:id="rId14"/>
    <p:sldId id="270" r:id="rId15"/>
  </p:sldIdLst>
  <p:sldSz cx="9144000" cy="5143500" type="screen16x9"/>
  <p:notesSz cx="6858000" cy="9144000"/>
  <p:embeddedFontLst>
    <p:embeddedFont>
      <p:font typeface="Anaheim" panose="020B0604020202020204" charset="0"/>
      <p:regular r:id="rId17"/>
      <p:bold r:id="rId18"/>
    </p:embeddedFont>
    <p:embeddedFont>
      <p:font typeface="Bricolage Grotesque" panose="020B0604020202020204" charset="0"/>
      <p:regular r:id="rId19"/>
      <p:bold r:id="rId20"/>
    </p:embeddedFont>
    <p:embeddedFont>
      <p:font typeface="Bricolage Grotesque ExtraLight" panose="020B0604020202020204" charset="0"/>
      <p:regular r:id="rId21"/>
      <p:bold r:id="rId22"/>
    </p:embeddedFont>
    <p:embeddedFont>
      <p:font typeface="Bricolage Grotesque Medium" panose="020B0604020202020204" charset="0"/>
      <p:regular r:id="rId23"/>
      <p:bold r:id="rId24"/>
    </p:embeddedFont>
    <p:embeddedFont>
      <p:font typeface="Heebo" pitchFamily="2" charset="-79"/>
      <p:regular r:id="rId25"/>
      <p:bold r:id="rId26"/>
    </p:embeddedFont>
    <p:embeddedFont>
      <p:font typeface="Inter" panose="020B0604020202020204" charset="0"/>
      <p:regular r:id="rId27"/>
      <p:bold r:id="rId28"/>
      <p:italic r:id="rId29"/>
      <p:boldItalic r:id="rId30"/>
    </p:embeddedFont>
    <p:embeddedFont>
      <p:font typeface="Nunito Light" pitchFamily="2" charset="0"/>
      <p:regular r:id="rId31"/>
    </p:embeddedFont>
    <p:embeddedFont>
      <p:font typeface="Open Sans" panose="020B0606030504020204" pitchFamily="34" charset="0"/>
      <p:regular r:id="rId32"/>
      <p:bold r:id="rId33"/>
      <p:italic r:id="rId34"/>
      <p:boldItalic r:id="rId35"/>
    </p:embeddedFont>
    <p:embeddedFont>
      <p:font typeface="Open Sans Light" panose="020B0306030504020204" pitchFamily="34" charset="0"/>
      <p:regular r:id="rId36"/>
    </p:embeddedFont>
    <p:embeddedFont>
      <p:font typeface="Raleway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A79E99-1B35-46F9-80BA-9027A1E0143C}">
  <a:tblStyle styleId="{3FA79E99-1B35-46F9-80BA-9027A1E0143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99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font" Target="fonts/font23.fntdata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font" Target="fonts/font21.fntdata"/><Relationship Id="rId40" Type="http://schemas.openxmlformats.org/officeDocument/2006/relationships/font" Target="fonts/font2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font" Target="fonts/font20.fntdata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54dda194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54dda194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97af2fcc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97af2fcc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d5260bdd85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d5260bdd85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28600" y="2854200"/>
            <a:ext cx="7286400" cy="206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00" y="1143439"/>
            <a:ext cx="1323600" cy="11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eebo"/>
              <a:buNone/>
              <a:defRPr sz="1600">
                <a:latin typeface="Heebo"/>
                <a:ea typeface="Heebo"/>
                <a:cs typeface="Heebo"/>
                <a:sym typeface="Heeb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28600" y="3336550"/>
            <a:ext cx="6522900" cy="15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6751500" y="827594"/>
            <a:ext cx="1652100" cy="121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228600" y="999327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228750" y="228600"/>
            <a:ext cx="2591700" cy="23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3768000" y="1795575"/>
            <a:ext cx="5147400" cy="12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3767953" y="1242975"/>
            <a:ext cx="5147400" cy="6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3767925" y="3669600"/>
            <a:ext cx="5147400" cy="12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3767855" y="3117000"/>
            <a:ext cx="5147400" cy="6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228600" y="4148475"/>
            <a:ext cx="4835100" cy="76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720000" y="445019"/>
            <a:ext cx="476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ubTitle" idx="1"/>
          </p:nvPr>
        </p:nvSpPr>
        <p:spPr>
          <a:xfrm>
            <a:off x="713225" y="1790975"/>
            <a:ext cx="4294800" cy="19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2135550" y="1441675"/>
            <a:ext cx="4872900" cy="118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ubTitle" idx="1"/>
          </p:nvPr>
        </p:nvSpPr>
        <p:spPr>
          <a:xfrm>
            <a:off x="2135550" y="278462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594000" cy="9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title" idx="2" hasCustomPrompt="1"/>
          </p:nvPr>
        </p:nvSpPr>
        <p:spPr>
          <a:xfrm>
            <a:off x="228719" y="2952800"/>
            <a:ext cx="2400600" cy="13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9500" b="0">
                <a:solidFill>
                  <a:schemeClr val="dk2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>
            <a:spLocks noGrp="1"/>
          </p:cNvSpPr>
          <p:nvPr>
            <p:ph type="subTitle" idx="1"/>
          </p:nvPr>
        </p:nvSpPr>
        <p:spPr>
          <a:xfrm>
            <a:off x="228600" y="1157700"/>
            <a:ext cx="3594000" cy="805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title" idx="3" hasCustomPrompt="1"/>
          </p:nvPr>
        </p:nvSpPr>
        <p:spPr>
          <a:xfrm>
            <a:off x="6515091" y="2952800"/>
            <a:ext cx="2400600" cy="13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9500" b="0">
                <a:solidFill>
                  <a:schemeClr val="dk2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41" name="Google Shape;41;p11"/>
          <p:cNvSpPr txBox="1">
            <a:spLocks noGrp="1"/>
          </p:cNvSpPr>
          <p:nvPr>
            <p:ph type="title" idx="4" hasCustomPrompt="1"/>
          </p:nvPr>
        </p:nvSpPr>
        <p:spPr>
          <a:xfrm>
            <a:off x="3371760" y="2952800"/>
            <a:ext cx="2400600" cy="13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9500" b="0">
                <a:solidFill>
                  <a:schemeClr val="dk2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42" name="Google Shape;42;p11"/>
          <p:cNvSpPr txBox="1">
            <a:spLocks noGrp="1"/>
          </p:cNvSpPr>
          <p:nvPr>
            <p:ph type="subTitle" idx="5"/>
          </p:nvPr>
        </p:nvSpPr>
        <p:spPr>
          <a:xfrm>
            <a:off x="228600" y="4155300"/>
            <a:ext cx="2400600" cy="75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ubTitle" idx="6"/>
          </p:nvPr>
        </p:nvSpPr>
        <p:spPr>
          <a:xfrm>
            <a:off x="6514972" y="4155300"/>
            <a:ext cx="2400600" cy="75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ubTitle" idx="7"/>
          </p:nvPr>
        </p:nvSpPr>
        <p:spPr>
          <a:xfrm>
            <a:off x="3371640" y="4155300"/>
            <a:ext cx="2400600" cy="75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title" idx="8" hasCustomPrompt="1"/>
          </p:nvPr>
        </p:nvSpPr>
        <p:spPr>
          <a:xfrm>
            <a:off x="6515091" y="228600"/>
            <a:ext cx="2400600" cy="13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9500" b="0">
                <a:solidFill>
                  <a:schemeClr val="dk2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9"/>
          </p:nvPr>
        </p:nvSpPr>
        <p:spPr>
          <a:xfrm>
            <a:off x="6514972" y="1431100"/>
            <a:ext cx="2400600" cy="759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title"/>
          </p:nvPr>
        </p:nvSpPr>
        <p:spPr>
          <a:xfrm>
            <a:off x="228600" y="3322775"/>
            <a:ext cx="3429000" cy="15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title" idx="2" hasCustomPrompt="1"/>
          </p:nvPr>
        </p:nvSpPr>
        <p:spPr>
          <a:xfrm>
            <a:off x="1588833" y="228602"/>
            <a:ext cx="542700" cy="33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12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1"/>
          </p:nvPr>
        </p:nvSpPr>
        <p:spPr>
          <a:xfrm>
            <a:off x="1562777" y="47307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3" hasCustomPrompt="1"/>
          </p:nvPr>
        </p:nvSpPr>
        <p:spPr>
          <a:xfrm>
            <a:off x="228592" y="1493565"/>
            <a:ext cx="542700" cy="33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2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4"/>
          </p:nvPr>
        </p:nvSpPr>
        <p:spPr>
          <a:xfrm>
            <a:off x="228598" y="173802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5" hasCustomPrompt="1"/>
          </p:nvPr>
        </p:nvSpPr>
        <p:spPr>
          <a:xfrm>
            <a:off x="3898029" y="228602"/>
            <a:ext cx="542700" cy="33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2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6"/>
          </p:nvPr>
        </p:nvSpPr>
        <p:spPr>
          <a:xfrm>
            <a:off x="3898025" y="47307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7" hasCustomPrompt="1"/>
          </p:nvPr>
        </p:nvSpPr>
        <p:spPr>
          <a:xfrm>
            <a:off x="6207225" y="228602"/>
            <a:ext cx="542700" cy="33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2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8"/>
          </p:nvPr>
        </p:nvSpPr>
        <p:spPr>
          <a:xfrm>
            <a:off x="6207225" y="47307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9" hasCustomPrompt="1"/>
          </p:nvPr>
        </p:nvSpPr>
        <p:spPr>
          <a:xfrm>
            <a:off x="2537808" y="1493565"/>
            <a:ext cx="542700" cy="33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2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3"/>
          </p:nvPr>
        </p:nvSpPr>
        <p:spPr>
          <a:xfrm>
            <a:off x="2537802" y="173802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14" hasCustomPrompt="1"/>
          </p:nvPr>
        </p:nvSpPr>
        <p:spPr>
          <a:xfrm>
            <a:off x="4847000" y="1493565"/>
            <a:ext cx="542700" cy="33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2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5"/>
          </p:nvPr>
        </p:nvSpPr>
        <p:spPr>
          <a:xfrm>
            <a:off x="4847000" y="173802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16" hasCustomPrompt="1"/>
          </p:nvPr>
        </p:nvSpPr>
        <p:spPr>
          <a:xfrm>
            <a:off x="3898017" y="2758524"/>
            <a:ext cx="542700" cy="33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2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7"/>
          </p:nvPr>
        </p:nvSpPr>
        <p:spPr>
          <a:xfrm>
            <a:off x="3898023" y="3003000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8" hasCustomPrompt="1"/>
          </p:nvPr>
        </p:nvSpPr>
        <p:spPr>
          <a:xfrm>
            <a:off x="6671900" y="2758524"/>
            <a:ext cx="542700" cy="338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2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9"/>
          </p:nvPr>
        </p:nvSpPr>
        <p:spPr>
          <a:xfrm>
            <a:off x="6671900" y="3003000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228600" y="3269200"/>
            <a:ext cx="3155400" cy="16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ubTitle" idx="1"/>
          </p:nvPr>
        </p:nvSpPr>
        <p:spPr>
          <a:xfrm>
            <a:off x="4517000" y="228600"/>
            <a:ext cx="3078300" cy="32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228600" y="554398"/>
            <a:ext cx="3201600" cy="19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>
            <a:spLocks noGrp="1"/>
          </p:cNvSpPr>
          <p:nvPr>
            <p:ph type="pic" idx="2"/>
          </p:nvPr>
        </p:nvSpPr>
        <p:spPr>
          <a:xfrm>
            <a:off x="228600" y="2871425"/>
            <a:ext cx="8687100" cy="20439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3995400" y="228600"/>
            <a:ext cx="4920300" cy="22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1887000" y="3909000"/>
            <a:ext cx="7028400" cy="10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ubTitle" idx="1"/>
          </p:nvPr>
        </p:nvSpPr>
        <p:spPr>
          <a:xfrm>
            <a:off x="3309609" y="1591350"/>
            <a:ext cx="2525400" cy="14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ubTitle" idx="2"/>
          </p:nvPr>
        </p:nvSpPr>
        <p:spPr>
          <a:xfrm>
            <a:off x="228450" y="1591350"/>
            <a:ext cx="2525400" cy="14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ubTitle" idx="3"/>
          </p:nvPr>
        </p:nvSpPr>
        <p:spPr>
          <a:xfrm>
            <a:off x="6390000" y="1591350"/>
            <a:ext cx="2525400" cy="14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title" idx="4" hasCustomPrompt="1"/>
          </p:nvPr>
        </p:nvSpPr>
        <p:spPr>
          <a:xfrm>
            <a:off x="3308991" y="228600"/>
            <a:ext cx="1640100" cy="76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50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6"/>
          <p:cNvSpPr txBox="1">
            <a:spLocks noGrp="1"/>
          </p:cNvSpPr>
          <p:nvPr>
            <p:ph type="title" idx="5" hasCustomPrompt="1"/>
          </p:nvPr>
        </p:nvSpPr>
        <p:spPr>
          <a:xfrm>
            <a:off x="228475" y="228968"/>
            <a:ext cx="1706100" cy="7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5000" b="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 idx="6" hasCustomPrompt="1"/>
          </p:nvPr>
        </p:nvSpPr>
        <p:spPr>
          <a:xfrm>
            <a:off x="6390000" y="228600"/>
            <a:ext cx="1479300" cy="7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5000" b="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6"/>
          <p:cNvSpPr txBox="1">
            <a:spLocks noGrp="1"/>
          </p:cNvSpPr>
          <p:nvPr>
            <p:ph type="subTitle" idx="7"/>
          </p:nvPr>
        </p:nvSpPr>
        <p:spPr>
          <a:xfrm>
            <a:off x="3309609" y="1103850"/>
            <a:ext cx="2525400" cy="56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ubTitle" idx="8"/>
          </p:nvPr>
        </p:nvSpPr>
        <p:spPr>
          <a:xfrm>
            <a:off x="228450" y="1103850"/>
            <a:ext cx="2525400" cy="56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subTitle" idx="9"/>
          </p:nvPr>
        </p:nvSpPr>
        <p:spPr>
          <a:xfrm>
            <a:off x="6390000" y="1103850"/>
            <a:ext cx="2525400" cy="56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228600" y="1159200"/>
            <a:ext cx="3248700" cy="28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1"/>
          </p:nvPr>
        </p:nvSpPr>
        <p:spPr>
          <a:xfrm>
            <a:off x="5061325" y="647121"/>
            <a:ext cx="3854400" cy="5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2"/>
          </p:nvPr>
        </p:nvSpPr>
        <p:spPr>
          <a:xfrm>
            <a:off x="5061325" y="228675"/>
            <a:ext cx="38544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title" idx="3" hasCustomPrompt="1"/>
          </p:nvPr>
        </p:nvSpPr>
        <p:spPr>
          <a:xfrm>
            <a:off x="4500325" y="228595"/>
            <a:ext cx="5610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4"/>
          </p:nvPr>
        </p:nvSpPr>
        <p:spPr>
          <a:xfrm>
            <a:off x="5061325" y="1871014"/>
            <a:ext cx="3854400" cy="5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ubTitle" idx="5"/>
          </p:nvPr>
        </p:nvSpPr>
        <p:spPr>
          <a:xfrm>
            <a:off x="5061325" y="1452568"/>
            <a:ext cx="38544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title" idx="6" hasCustomPrompt="1"/>
          </p:nvPr>
        </p:nvSpPr>
        <p:spPr>
          <a:xfrm>
            <a:off x="4500325" y="1452487"/>
            <a:ext cx="5610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7"/>
          <p:cNvSpPr txBox="1">
            <a:spLocks noGrp="1"/>
          </p:cNvSpPr>
          <p:nvPr>
            <p:ph type="subTitle" idx="7"/>
          </p:nvPr>
        </p:nvSpPr>
        <p:spPr>
          <a:xfrm>
            <a:off x="5061325" y="3094907"/>
            <a:ext cx="3854400" cy="5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ubTitle" idx="8"/>
          </p:nvPr>
        </p:nvSpPr>
        <p:spPr>
          <a:xfrm>
            <a:off x="5061325" y="2676461"/>
            <a:ext cx="38544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title" idx="9" hasCustomPrompt="1"/>
          </p:nvPr>
        </p:nvSpPr>
        <p:spPr>
          <a:xfrm>
            <a:off x="4500325" y="2676378"/>
            <a:ext cx="5610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13"/>
          </p:nvPr>
        </p:nvSpPr>
        <p:spPr>
          <a:xfrm>
            <a:off x="5061325" y="4318799"/>
            <a:ext cx="3854400" cy="5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14"/>
          </p:nvPr>
        </p:nvSpPr>
        <p:spPr>
          <a:xfrm>
            <a:off x="5061325" y="3900353"/>
            <a:ext cx="38544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 idx="15" hasCustomPrompt="1"/>
          </p:nvPr>
        </p:nvSpPr>
        <p:spPr>
          <a:xfrm>
            <a:off x="4500325" y="3900270"/>
            <a:ext cx="561000" cy="484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500" cy="76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054850" y="3056150"/>
            <a:ext cx="5860500" cy="183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subTitle" idx="1"/>
          </p:nvPr>
        </p:nvSpPr>
        <p:spPr>
          <a:xfrm>
            <a:off x="4425843" y="228611"/>
            <a:ext cx="24909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28600" y="2803984"/>
            <a:ext cx="2572200" cy="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 This presentation template was created by </a:t>
            </a:r>
            <a:r>
              <a:rPr lang="en" sz="1000" b="1" u="sng">
                <a:solidFill>
                  <a:schemeClr val="hlink"/>
                </a:solidFill>
                <a:latin typeface="Heebo"/>
                <a:ea typeface="Heebo"/>
                <a:cs typeface="Heebo"/>
                <a:sym typeface="Heebo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, and includes icons, infographics &amp; images by </a:t>
            </a:r>
            <a:r>
              <a:rPr lang="en" sz="1000" b="1" u="sng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endParaRPr sz="1000" b="1" u="sng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2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24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2_1_1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25"/>
          <p:cNvSpPr txBox="1">
            <a:spLocks noGrp="1"/>
          </p:cNvSpPr>
          <p:nvPr>
            <p:ph type="title"/>
          </p:nvPr>
        </p:nvSpPr>
        <p:spPr>
          <a:xfrm>
            <a:off x="728527" y="539500"/>
            <a:ext cx="33477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title" idx="2"/>
          </p:nvPr>
        </p:nvSpPr>
        <p:spPr>
          <a:xfrm>
            <a:off x="4977550" y="539500"/>
            <a:ext cx="34584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Bricolage Grotesque"/>
              <a:buNone/>
              <a:defRPr sz="4500" b="1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sz="4500" b="1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sz="4500" b="1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sz="4500" b="1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sz="4500" b="1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sz="4500" b="1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sz="4500" b="1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sz="4500" b="1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sz="4500" b="1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28600" y="936050"/>
            <a:ext cx="8686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●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○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■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●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○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■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●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○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■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>
            <a:spLocks noGrp="1"/>
          </p:cNvSpPr>
          <p:nvPr>
            <p:ph type="ctrTitle"/>
          </p:nvPr>
        </p:nvSpPr>
        <p:spPr>
          <a:xfrm>
            <a:off x="228600" y="2854200"/>
            <a:ext cx="7286400" cy="206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b="0" dirty="0"/>
              <a:t>POO (Java)</a:t>
            </a:r>
            <a:endParaRPr sz="2800" dirty="0"/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s" sz="6600" dirty="0"/>
              <a:t>Sistema HAS</a:t>
            </a:r>
            <a:endParaRPr sz="6600" dirty="0"/>
          </a:p>
        </p:txBody>
      </p:sp>
      <p:sp>
        <p:nvSpPr>
          <p:cNvPr id="122" name="Google Shape;122;p26"/>
          <p:cNvSpPr txBox="1">
            <a:spLocks noGrp="1"/>
          </p:cNvSpPr>
          <p:nvPr>
            <p:ph type="subTitle" idx="1"/>
          </p:nvPr>
        </p:nvSpPr>
        <p:spPr>
          <a:xfrm>
            <a:off x="4572000" y="1143439"/>
            <a:ext cx="1323600" cy="113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Gestión de clientes y ventas</a:t>
            </a:r>
            <a:endParaRPr/>
          </a:p>
        </p:txBody>
      </p:sp>
      <p:sp>
        <p:nvSpPr>
          <p:cNvPr id="123" name="Google Shape;123;p26"/>
          <p:cNvSpPr txBox="1"/>
          <p:nvPr/>
        </p:nvSpPr>
        <p:spPr>
          <a:xfrm>
            <a:off x="5541950" y="228600"/>
            <a:ext cx="1741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Helaman Garcia Silva</a:t>
            </a:r>
            <a:endParaRPr sz="10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124" name="Google Shape;124;p26"/>
          <p:cNvSpPr txBox="1"/>
          <p:nvPr/>
        </p:nvSpPr>
        <p:spPr>
          <a:xfrm>
            <a:off x="7689003" y="228600"/>
            <a:ext cx="1226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2026-1</a:t>
            </a:r>
            <a:endParaRPr sz="10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>
            <a:spLocks noGrp="1"/>
          </p:cNvSpPr>
          <p:nvPr>
            <p:ph type="title"/>
          </p:nvPr>
        </p:nvSpPr>
        <p:spPr>
          <a:xfrm>
            <a:off x="228600" y="3322775"/>
            <a:ext cx="3429000" cy="1592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Agenda</a:t>
            </a:r>
            <a:endParaRPr/>
          </a:p>
        </p:txBody>
      </p:sp>
      <p:sp>
        <p:nvSpPr>
          <p:cNvPr id="171" name="Google Shape;171;p28"/>
          <p:cNvSpPr txBox="1">
            <a:spLocks noGrp="1"/>
          </p:cNvSpPr>
          <p:nvPr>
            <p:ph type="subTitle" idx="1"/>
          </p:nvPr>
        </p:nvSpPr>
        <p:spPr>
          <a:xfrm>
            <a:off x="1562777" y="47307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</a:t>
            </a:r>
            <a:r>
              <a:rPr lang="es"/>
              <a:t>problema</a:t>
            </a:r>
            <a:endParaRPr/>
          </a:p>
        </p:txBody>
      </p:sp>
      <p:sp>
        <p:nvSpPr>
          <p:cNvPr id="172" name="Google Shape;172;p28"/>
          <p:cNvSpPr txBox="1">
            <a:spLocks noGrp="1"/>
          </p:cNvSpPr>
          <p:nvPr>
            <p:ph type="title" idx="2"/>
          </p:nvPr>
        </p:nvSpPr>
        <p:spPr>
          <a:xfrm>
            <a:off x="1588833" y="228602"/>
            <a:ext cx="542700" cy="3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73" name="Google Shape;173;p28"/>
          <p:cNvSpPr txBox="1">
            <a:spLocks noGrp="1"/>
          </p:cNvSpPr>
          <p:nvPr>
            <p:ph type="title" idx="3"/>
          </p:nvPr>
        </p:nvSpPr>
        <p:spPr>
          <a:xfrm>
            <a:off x="228592" y="1493565"/>
            <a:ext cx="542700" cy="3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74" name="Google Shape;174;p28"/>
          <p:cNvSpPr txBox="1">
            <a:spLocks noGrp="1"/>
          </p:cNvSpPr>
          <p:nvPr>
            <p:ph type="subTitle" idx="4"/>
          </p:nvPr>
        </p:nvSpPr>
        <p:spPr>
          <a:xfrm>
            <a:off x="228598" y="173802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Arquitectura del sistema</a:t>
            </a:r>
            <a:endParaRPr/>
          </a:p>
        </p:txBody>
      </p:sp>
      <p:sp>
        <p:nvSpPr>
          <p:cNvPr id="175" name="Google Shape;175;p28"/>
          <p:cNvSpPr txBox="1">
            <a:spLocks noGrp="1"/>
          </p:cNvSpPr>
          <p:nvPr>
            <p:ph type="title" idx="5"/>
          </p:nvPr>
        </p:nvSpPr>
        <p:spPr>
          <a:xfrm>
            <a:off x="3898029" y="228602"/>
            <a:ext cx="542700" cy="3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76" name="Google Shape;176;p28"/>
          <p:cNvSpPr txBox="1">
            <a:spLocks noGrp="1"/>
          </p:cNvSpPr>
          <p:nvPr>
            <p:ph type="subTitle" idx="6"/>
          </p:nvPr>
        </p:nvSpPr>
        <p:spPr>
          <a:xfrm>
            <a:off x="3898025" y="47307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 y alcance</a:t>
            </a:r>
            <a:endParaRPr/>
          </a:p>
        </p:txBody>
      </p:sp>
      <p:sp>
        <p:nvSpPr>
          <p:cNvPr id="177" name="Google Shape;177;p28"/>
          <p:cNvSpPr txBox="1">
            <a:spLocks noGrp="1"/>
          </p:cNvSpPr>
          <p:nvPr>
            <p:ph type="title" idx="7"/>
          </p:nvPr>
        </p:nvSpPr>
        <p:spPr>
          <a:xfrm>
            <a:off x="6207225" y="228602"/>
            <a:ext cx="542700" cy="3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78" name="Google Shape;178;p28"/>
          <p:cNvSpPr txBox="1">
            <a:spLocks noGrp="1"/>
          </p:cNvSpPr>
          <p:nvPr>
            <p:ph type="subTitle" idx="8"/>
          </p:nvPr>
        </p:nvSpPr>
        <p:spPr>
          <a:xfrm>
            <a:off x="6207225" y="47307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Diseño orientado a objetos</a:t>
            </a:r>
            <a:endParaRPr/>
          </a:p>
        </p:txBody>
      </p:sp>
      <p:sp>
        <p:nvSpPr>
          <p:cNvPr id="179" name="Google Shape;179;p28"/>
          <p:cNvSpPr txBox="1">
            <a:spLocks noGrp="1"/>
          </p:cNvSpPr>
          <p:nvPr>
            <p:ph type="title" idx="9"/>
          </p:nvPr>
        </p:nvSpPr>
        <p:spPr>
          <a:xfrm>
            <a:off x="2537808" y="1493565"/>
            <a:ext cx="542700" cy="3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80" name="Google Shape;180;p28"/>
          <p:cNvSpPr txBox="1">
            <a:spLocks noGrp="1"/>
          </p:cNvSpPr>
          <p:nvPr>
            <p:ph type="subTitle" idx="13"/>
          </p:nvPr>
        </p:nvSpPr>
        <p:spPr>
          <a:xfrm>
            <a:off x="2537802" y="173802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Persistencia y JDBC</a:t>
            </a:r>
            <a:endParaRPr/>
          </a:p>
        </p:txBody>
      </p:sp>
      <p:sp>
        <p:nvSpPr>
          <p:cNvPr id="181" name="Google Shape;181;p28"/>
          <p:cNvSpPr txBox="1">
            <a:spLocks noGrp="1"/>
          </p:cNvSpPr>
          <p:nvPr>
            <p:ph type="title" idx="14"/>
          </p:nvPr>
        </p:nvSpPr>
        <p:spPr>
          <a:xfrm>
            <a:off x="4847000" y="1493565"/>
            <a:ext cx="542700" cy="3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82" name="Google Shape;182;p28"/>
          <p:cNvSpPr txBox="1">
            <a:spLocks noGrp="1"/>
          </p:cNvSpPr>
          <p:nvPr>
            <p:ph type="subTitle" idx="15"/>
          </p:nvPr>
        </p:nvSpPr>
        <p:spPr>
          <a:xfrm>
            <a:off x="4847000" y="1738025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Interfaz gráfica (demo)</a:t>
            </a:r>
            <a:endParaRPr/>
          </a:p>
        </p:txBody>
      </p:sp>
      <p:sp>
        <p:nvSpPr>
          <p:cNvPr id="183" name="Google Shape;183;p28"/>
          <p:cNvSpPr txBox="1">
            <a:spLocks noGrp="1"/>
          </p:cNvSpPr>
          <p:nvPr>
            <p:ph type="title" idx="16"/>
          </p:nvPr>
        </p:nvSpPr>
        <p:spPr>
          <a:xfrm>
            <a:off x="3898017" y="2758524"/>
            <a:ext cx="542700" cy="3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184" name="Google Shape;184;p28"/>
          <p:cNvSpPr txBox="1">
            <a:spLocks noGrp="1"/>
          </p:cNvSpPr>
          <p:nvPr>
            <p:ph type="subTitle" idx="17"/>
          </p:nvPr>
        </p:nvSpPr>
        <p:spPr>
          <a:xfrm>
            <a:off x="3898023" y="3003000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Resultados alcanzados</a:t>
            </a:r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title" idx="18"/>
          </p:nvPr>
        </p:nvSpPr>
        <p:spPr>
          <a:xfrm>
            <a:off x="6671900" y="2758524"/>
            <a:ext cx="542700" cy="33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186" name="Google Shape;186;p28"/>
          <p:cNvSpPr txBox="1">
            <a:spLocks noGrp="1"/>
          </p:cNvSpPr>
          <p:nvPr>
            <p:ph type="subTitle" idx="19"/>
          </p:nvPr>
        </p:nvSpPr>
        <p:spPr>
          <a:xfrm>
            <a:off x="6671900" y="3003000"/>
            <a:ext cx="1609200" cy="67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s"/>
              <a:t>onclusión final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9"/>
          <p:cNvSpPr txBox="1">
            <a:spLocks noGrp="1"/>
          </p:cNvSpPr>
          <p:nvPr>
            <p:ph type="title"/>
          </p:nvPr>
        </p:nvSpPr>
        <p:spPr>
          <a:xfrm>
            <a:off x="228600" y="3269200"/>
            <a:ext cx="3155400" cy="164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El problema</a:t>
            </a:r>
            <a:endParaRPr sz="4000"/>
          </a:p>
        </p:txBody>
      </p:sp>
      <p:sp>
        <p:nvSpPr>
          <p:cNvPr id="192" name="Google Shape;192;p29"/>
          <p:cNvSpPr txBox="1">
            <a:spLocks noGrp="1"/>
          </p:cNvSpPr>
          <p:nvPr>
            <p:ph type="subTitle" idx="1"/>
          </p:nvPr>
        </p:nvSpPr>
        <p:spPr>
          <a:xfrm>
            <a:off x="4517000" y="228600"/>
            <a:ext cx="3078300" cy="320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Muchas microempresas del sector comercio —como la Librería y Bazar “HAS”— registran clientes y ventas en cuadernos u hojas sueltas. Sin validación ni historial confiable, esto produce errores de cálculo, información dispersa y atención más lenta cada vez que el negocio crece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>
            <a:spLocks noGrp="1"/>
          </p:cNvSpPr>
          <p:nvPr>
            <p:ph type="title"/>
          </p:nvPr>
        </p:nvSpPr>
        <p:spPr>
          <a:xfrm>
            <a:off x="228750" y="228600"/>
            <a:ext cx="2591700" cy="23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Manual vs</a:t>
            </a:r>
            <a:br>
              <a:rPr lang="en" dirty="0"/>
            </a:br>
            <a:r>
              <a:rPr lang="en" dirty="0"/>
              <a:t>Sistema</a:t>
            </a:r>
            <a:endParaRPr dirty="0"/>
          </a:p>
        </p:txBody>
      </p:sp>
      <p:sp>
        <p:nvSpPr>
          <p:cNvPr id="236" name="Google Shape;236;p34"/>
          <p:cNvSpPr txBox="1">
            <a:spLocks noGrp="1"/>
          </p:cNvSpPr>
          <p:nvPr>
            <p:ph type="subTitle" idx="2"/>
          </p:nvPr>
        </p:nvSpPr>
        <p:spPr>
          <a:xfrm>
            <a:off x="3767953" y="1242975"/>
            <a:ext cx="5147400" cy="6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Antes: cuaderno y calculadora</a:t>
            </a:r>
            <a:endParaRPr/>
          </a:p>
        </p:txBody>
      </p:sp>
      <p:sp>
        <p:nvSpPr>
          <p:cNvPr id="237" name="Google Shape;237;p34"/>
          <p:cNvSpPr txBox="1">
            <a:spLocks noGrp="1"/>
          </p:cNvSpPr>
          <p:nvPr>
            <p:ph type="subTitle" idx="1"/>
          </p:nvPr>
        </p:nvSpPr>
        <p:spPr>
          <a:xfrm>
            <a:off x="3768000" y="1795575"/>
            <a:ext cx="5147400" cy="12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Cálculo manual del total, propenso a errores. Búsqueda lenta del historial de un cliente. Sin validación de datos al registrar</a:t>
            </a:r>
            <a:endParaRPr dirty="0"/>
          </a:p>
        </p:txBody>
      </p:sp>
      <p:sp>
        <p:nvSpPr>
          <p:cNvPr id="238" name="Google Shape;238;p34"/>
          <p:cNvSpPr txBox="1">
            <a:spLocks noGrp="1"/>
          </p:cNvSpPr>
          <p:nvPr>
            <p:ph type="subTitle" idx="3"/>
          </p:nvPr>
        </p:nvSpPr>
        <p:spPr>
          <a:xfrm>
            <a:off x="3767925" y="3669600"/>
            <a:ext cx="5147400" cy="12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calculado automáticamente por línea. Consulta inmediata por cliente mediante INNER JOIN. Datos centralizados y persistentes en la base de datos</a:t>
            </a:r>
            <a:endParaRPr/>
          </a:p>
        </p:txBody>
      </p:sp>
      <p:sp>
        <p:nvSpPr>
          <p:cNvPr id="239" name="Google Shape;239;p34"/>
          <p:cNvSpPr txBox="1">
            <a:spLocks noGrp="1"/>
          </p:cNvSpPr>
          <p:nvPr>
            <p:ph type="subTitle" idx="4"/>
          </p:nvPr>
        </p:nvSpPr>
        <p:spPr>
          <a:xfrm>
            <a:off x="3767855" y="3117000"/>
            <a:ext cx="5147400" cy="6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Después: sistema con SQL Server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>
            <a:spLocks noGrp="1"/>
          </p:cNvSpPr>
          <p:nvPr>
            <p:ph type="title"/>
          </p:nvPr>
        </p:nvSpPr>
        <p:spPr>
          <a:xfrm>
            <a:off x="228600" y="3336550"/>
            <a:ext cx="6522900" cy="15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700" b="0"/>
              <a:t>Objetivo y alcance</a:t>
            </a:r>
            <a:r>
              <a:rPr lang="es" sz="3400" b="0"/>
              <a:t> </a:t>
            </a:r>
            <a:r>
              <a:rPr lang="es" sz="4000"/>
              <a:t>Centralizar clientes, productos y ventas</a:t>
            </a:r>
            <a:endParaRPr sz="4000"/>
          </a:p>
        </p:txBody>
      </p:sp>
      <p:sp>
        <p:nvSpPr>
          <p:cNvPr id="198" name="Google Shape;198;p30"/>
          <p:cNvSpPr txBox="1">
            <a:spLocks noGrp="1"/>
          </p:cNvSpPr>
          <p:nvPr>
            <p:ph type="title" idx="2"/>
          </p:nvPr>
        </p:nvSpPr>
        <p:spPr>
          <a:xfrm>
            <a:off x="6751500" y="827594"/>
            <a:ext cx="1652100" cy="121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500" cy="76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Arquitectura del sistema</a:t>
            </a:r>
            <a:endParaRPr/>
          </a:p>
        </p:txBody>
      </p:sp>
      <p:sp>
        <p:nvSpPr>
          <p:cNvPr id="211" name="Google Shape;211;p32"/>
          <p:cNvSpPr txBox="1"/>
          <p:nvPr/>
        </p:nvSpPr>
        <p:spPr>
          <a:xfrm>
            <a:off x="228600" y="3572675"/>
            <a:ext cx="1876500" cy="11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Interfaz Swing organizada en pestañas: Clientes, Productos, Registrar Venta y Consultar Ventas</a:t>
            </a:r>
            <a:endParaRPr sz="12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12" name="Google Shape;212;p32"/>
          <p:cNvSpPr txBox="1"/>
          <p:nvPr/>
        </p:nvSpPr>
        <p:spPr>
          <a:xfrm>
            <a:off x="228600" y="2688100"/>
            <a:ext cx="1876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01</a:t>
            </a:r>
            <a:endParaRPr sz="5000">
              <a:solidFill>
                <a:schemeClr val="dk2"/>
              </a:solidFill>
              <a:latin typeface="Bricolage Grotesque ExtraLight"/>
              <a:ea typeface="Bricolage Grotesque ExtraLight"/>
              <a:cs typeface="Bricolage Grotesque ExtraLight"/>
              <a:sym typeface="Bricolage Grotesque ExtraLight"/>
            </a:endParaRPr>
          </a:p>
        </p:txBody>
      </p:sp>
      <p:cxnSp>
        <p:nvCxnSpPr>
          <p:cNvPr id="213" name="Google Shape;213;p32"/>
          <p:cNvCxnSpPr/>
          <p:nvPr/>
        </p:nvCxnSpPr>
        <p:spPr>
          <a:xfrm>
            <a:off x="231925" y="2693525"/>
            <a:ext cx="86955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4" name="Google Shape;214;p32"/>
          <p:cNvSpPr txBox="1"/>
          <p:nvPr/>
        </p:nvSpPr>
        <p:spPr>
          <a:xfrm>
            <a:off x="228600" y="2306150"/>
            <a:ext cx="15003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Vista</a:t>
            </a:r>
            <a:endParaRPr sz="1600">
              <a:solidFill>
                <a:schemeClr val="dk2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15" name="Google Shape;215;p32"/>
          <p:cNvSpPr txBox="1"/>
          <p:nvPr/>
        </p:nvSpPr>
        <p:spPr>
          <a:xfrm>
            <a:off x="2498825" y="3572674"/>
            <a:ext cx="1876500" cy="11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Reglas de negocio y validaciones del sistema; lanza excepciones propias del dominio</a:t>
            </a:r>
            <a:endParaRPr sz="12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16" name="Google Shape;216;p32"/>
          <p:cNvSpPr txBox="1"/>
          <p:nvPr/>
        </p:nvSpPr>
        <p:spPr>
          <a:xfrm>
            <a:off x="2498800" y="2688100"/>
            <a:ext cx="1876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02</a:t>
            </a:r>
            <a:endParaRPr sz="5000">
              <a:solidFill>
                <a:schemeClr val="dk2"/>
              </a:solidFill>
              <a:latin typeface="Bricolage Grotesque ExtraLight"/>
              <a:ea typeface="Bricolage Grotesque ExtraLight"/>
              <a:cs typeface="Bricolage Grotesque ExtraLight"/>
              <a:sym typeface="Bricolage Grotesque ExtraLight"/>
            </a:endParaRPr>
          </a:p>
        </p:txBody>
      </p:sp>
      <p:sp>
        <p:nvSpPr>
          <p:cNvPr id="217" name="Google Shape;217;p32"/>
          <p:cNvSpPr txBox="1"/>
          <p:nvPr/>
        </p:nvSpPr>
        <p:spPr>
          <a:xfrm>
            <a:off x="2498825" y="2306150"/>
            <a:ext cx="14892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</a:t>
            </a:r>
            <a:r>
              <a:rPr lang="es"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ervicio</a:t>
            </a:r>
            <a:endParaRPr sz="1600">
              <a:solidFill>
                <a:schemeClr val="dk2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18" name="Google Shape;218;p32"/>
          <p:cNvSpPr txBox="1"/>
          <p:nvPr/>
        </p:nvSpPr>
        <p:spPr>
          <a:xfrm>
            <a:off x="4769000" y="3572674"/>
            <a:ext cx="1876500" cy="11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Cliente, Producto (abstracta) y sus subtipos, Venta y DetalleVenta</a:t>
            </a:r>
            <a:endParaRPr sz="12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19" name="Google Shape;219;p32"/>
          <p:cNvSpPr txBox="1"/>
          <p:nvPr/>
        </p:nvSpPr>
        <p:spPr>
          <a:xfrm>
            <a:off x="4768975" y="2688100"/>
            <a:ext cx="1876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03</a:t>
            </a:r>
            <a:endParaRPr sz="5000">
              <a:solidFill>
                <a:schemeClr val="dk2"/>
              </a:solidFill>
              <a:latin typeface="Bricolage Grotesque ExtraLight"/>
              <a:ea typeface="Bricolage Grotesque ExtraLight"/>
              <a:cs typeface="Bricolage Grotesque ExtraLight"/>
              <a:sym typeface="Bricolage Grotesque ExtraLight"/>
            </a:endParaRPr>
          </a:p>
        </p:txBody>
      </p:sp>
      <p:sp>
        <p:nvSpPr>
          <p:cNvPr id="220" name="Google Shape;220;p32"/>
          <p:cNvSpPr txBox="1"/>
          <p:nvPr/>
        </p:nvSpPr>
        <p:spPr>
          <a:xfrm>
            <a:off x="4769000" y="2306150"/>
            <a:ext cx="14892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</a:t>
            </a:r>
            <a:r>
              <a:rPr lang="es"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odelo</a:t>
            </a:r>
            <a:endParaRPr sz="1600" b="1">
              <a:solidFill>
                <a:schemeClr val="dk2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21" name="Google Shape;221;p32"/>
          <p:cNvSpPr txBox="1"/>
          <p:nvPr/>
        </p:nvSpPr>
        <p:spPr>
          <a:xfrm>
            <a:off x="7039200" y="3572674"/>
            <a:ext cx="1876500" cy="11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SQL Server vía JDBC: ClienteDAO, ProductoDAO y VentaDAO</a:t>
            </a:r>
            <a:endParaRPr sz="12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22" name="Google Shape;222;p32"/>
          <p:cNvSpPr txBox="1"/>
          <p:nvPr/>
        </p:nvSpPr>
        <p:spPr>
          <a:xfrm>
            <a:off x="7039175" y="2688100"/>
            <a:ext cx="1876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04</a:t>
            </a:r>
            <a:endParaRPr sz="5000">
              <a:solidFill>
                <a:schemeClr val="dk2"/>
              </a:solidFill>
              <a:latin typeface="Bricolage Grotesque ExtraLight"/>
              <a:ea typeface="Bricolage Grotesque ExtraLight"/>
              <a:cs typeface="Bricolage Grotesque ExtraLight"/>
              <a:sym typeface="Bricolage Grotesque ExtraLight"/>
            </a:endParaRPr>
          </a:p>
        </p:txBody>
      </p:sp>
      <p:sp>
        <p:nvSpPr>
          <p:cNvPr id="223" name="Google Shape;223;p32"/>
          <p:cNvSpPr txBox="1"/>
          <p:nvPr/>
        </p:nvSpPr>
        <p:spPr>
          <a:xfrm>
            <a:off x="7039200" y="2306150"/>
            <a:ext cx="14892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Datos</a:t>
            </a:r>
            <a:endParaRPr sz="1600">
              <a:solidFill>
                <a:schemeClr val="dk2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5"/>
          <p:cNvSpPr txBox="1">
            <a:spLocks noGrp="1"/>
          </p:cNvSpPr>
          <p:nvPr>
            <p:ph type="title"/>
          </p:nvPr>
        </p:nvSpPr>
        <p:spPr>
          <a:xfrm>
            <a:off x="1887000" y="3909000"/>
            <a:ext cx="7028400" cy="100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Diseño orientado a objetos</a:t>
            </a:r>
            <a:endParaRPr sz="3200"/>
          </a:p>
        </p:txBody>
      </p:sp>
      <p:sp>
        <p:nvSpPr>
          <p:cNvPr id="245" name="Google Shape;245;p35"/>
          <p:cNvSpPr txBox="1">
            <a:spLocks noGrp="1"/>
          </p:cNvSpPr>
          <p:nvPr>
            <p:ph type="subTitle" idx="2"/>
          </p:nvPr>
        </p:nvSpPr>
        <p:spPr>
          <a:xfrm>
            <a:off x="228450" y="1591350"/>
            <a:ext cx="2525400" cy="14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Extiende Producto y sobrescribe calcularPrecioFinal(): -10% de descuento cuando está en campaña escolar</a:t>
            </a:r>
            <a:endParaRPr/>
          </a:p>
        </p:txBody>
      </p:sp>
      <p:sp>
        <p:nvSpPr>
          <p:cNvPr id="246" name="Google Shape;246;p35"/>
          <p:cNvSpPr txBox="1">
            <a:spLocks noGrp="1"/>
          </p:cNvSpPr>
          <p:nvPr>
            <p:ph type="subTitle" idx="1"/>
          </p:nvPr>
        </p:nvSpPr>
        <p:spPr>
          <a:xfrm>
            <a:off x="3309609" y="1591350"/>
            <a:ext cx="2525400" cy="14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Sobrescribe el mismo método: -12% de descuento cuando el producto se vende al por mayor</a:t>
            </a:r>
            <a:endParaRPr/>
          </a:p>
        </p:txBody>
      </p:sp>
      <p:sp>
        <p:nvSpPr>
          <p:cNvPr id="247" name="Google Shape;247;p35"/>
          <p:cNvSpPr txBox="1">
            <a:spLocks noGrp="1"/>
          </p:cNvSpPr>
          <p:nvPr>
            <p:ph type="subTitle" idx="3"/>
          </p:nvPr>
        </p:nvSpPr>
        <p:spPr>
          <a:xfrm>
            <a:off x="6390000" y="1591350"/>
            <a:ext cx="2525400" cy="14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 tercer subtipo: -20% de descuento cuando el producto está fuera de temporada alta</a:t>
            </a:r>
            <a:endParaRPr/>
          </a:p>
        </p:txBody>
      </p:sp>
      <p:sp>
        <p:nvSpPr>
          <p:cNvPr id="248" name="Google Shape;248;p35"/>
          <p:cNvSpPr txBox="1">
            <a:spLocks noGrp="1"/>
          </p:cNvSpPr>
          <p:nvPr>
            <p:ph type="title" idx="4"/>
          </p:nvPr>
        </p:nvSpPr>
        <p:spPr>
          <a:xfrm>
            <a:off x="3308991" y="228600"/>
            <a:ext cx="1640100" cy="7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49" name="Google Shape;249;p35"/>
          <p:cNvSpPr txBox="1">
            <a:spLocks noGrp="1"/>
          </p:cNvSpPr>
          <p:nvPr>
            <p:ph type="title" idx="5"/>
          </p:nvPr>
        </p:nvSpPr>
        <p:spPr>
          <a:xfrm>
            <a:off x="228475" y="228968"/>
            <a:ext cx="1706100" cy="76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50" name="Google Shape;250;p35"/>
          <p:cNvSpPr txBox="1">
            <a:spLocks noGrp="1"/>
          </p:cNvSpPr>
          <p:nvPr>
            <p:ph type="title" idx="6"/>
          </p:nvPr>
        </p:nvSpPr>
        <p:spPr>
          <a:xfrm>
            <a:off x="6390000" y="228600"/>
            <a:ext cx="1479300" cy="7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51" name="Google Shape;251;p35"/>
          <p:cNvSpPr txBox="1">
            <a:spLocks noGrp="1"/>
          </p:cNvSpPr>
          <p:nvPr>
            <p:ph type="subTitle" idx="7"/>
          </p:nvPr>
        </p:nvSpPr>
        <p:spPr>
          <a:xfrm>
            <a:off x="3309609" y="1103850"/>
            <a:ext cx="2525400" cy="56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ProductoPapeleria</a:t>
            </a:r>
            <a:endParaRPr/>
          </a:p>
        </p:txBody>
      </p:sp>
      <p:sp>
        <p:nvSpPr>
          <p:cNvPr id="252" name="Google Shape;252;p35"/>
          <p:cNvSpPr txBox="1">
            <a:spLocks noGrp="1"/>
          </p:cNvSpPr>
          <p:nvPr>
            <p:ph type="subTitle" idx="8"/>
          </p:nvPr>
        </p:nvSpPr>
        <p:spPr>
          <a:xfrm>
            <a:off x="228450" y="1103850"/>
            <a:ext cx="2525400" cy="56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ProductoUtilEscolar</a:t>
            </a:r>
            <a:endParaRPr/>
          </a:p>
        </p:txBody>
      </p:sp>
      <p:sp>
        <p:nvSpPr>
          <p:cNvPr id="253" name="Google Shape;253;p35"/>
          <p:cNvSpPr txBox="1">
            <a:spLocks noGrp="1"/>
          </p:cNvSpPr>
          <p:nvPr>
            <p:ph type="subTitle" idx="9"/>
          </p:nvPr>
        </p:nvSpPr>
        <p:spPr>
          <a:xfrm>
            <a:off x="6390000" y="1103850"/>
            <a:ext cx="2525400" cy="56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ProductoBazar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>
            <a:spLocks noGrp="1"/>
          </p:cNvSpPr>
          <p:nvPr>
            <p:ph type="title"/>
          </p:nvPr>
        </p:nvSpPr>
        <p:spPr>
          <a:xfrm>
            <a:off x="228600" y="1159200"/>
            <a:ext cx="3248700" cy="28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 dirty="0"/>
              <a:t>Persistencia y JDBC</a:t>
            </a:r>
            <a:endParaRPr dirty="0"/>
          </a:p>
        </p:txBody>
      </p:sp>
      <p:sp>
        <p:nvSpPr>
          <p:cNvPr id="259" name="Google Shape;259;p36"/>
          <p:cNvSpPr txBox="1">
            <a:spLocks noGrp="1"/>
          </p:cNvSpPr>
          <p:nvPr>
            <p:ph type="subTitle" idx="1"/>
          </p:nvPr>
        </p:nvSpPr>
        <p:spPr>
          <a:xfrm>
            <a:off x="5061325" y="647121"/>
            <a:ext cx="3854400" cy="5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Driver mssql-jdbc gestionado por Maven; login SQL dedicado en Conexion.java (Singleton)</a:t>
            </a:r>
            <a:endParaRPr/>
          </a:p>
        </p:txBody>
      </p:sp>
      <p:sp>
        <p:nvSpPr>
          <p:cNvPr id="260" name="Google Shape;260;p36"/>
          <p:cNvSpPr txBox="1">
            <a:spLocks noGrp="1"/>
          </p:cNvSpPr>
          <p:nvPr>
            <p:ph type="subTitle" idx="2"/>
          </p:nvPr>
        </p:nvSpPr>
        <p:spPr>
          <a:xfrm>
            <a:off x="5061325" y="228675"/>
            <a:ext cx="38544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Conexión JDBC</a:t>
            </a:r>
            <a:endParaRPr/>
          </a:p>
        </p:txBody>
      </p:sp>
      <p:sp>
        <p:nvSpPr>
          <p:cNvPr id="261" name="Google Shape;261;p36"/>
          <p:cNvSpPr txBox="1">
            <a:spLocks noGrp="1"/>
          </p:cNvSpPr>
          <p:nvPr>
            <p:ph type="title" idx="3"/>
          </p:nvPr>
        </p:nvSpPr>
        <p:spPr>
          <a:xfrm>
            <a:off x="4500325" y="228595"/>
            <a:ext cx="5610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62" name="Google Shape;262;p36"/>
          <p:cNvSpPr txBox="1">
            <a:spLocks noGrp="1"/>
          </p:cNvSpPr>
          <p:nvPr>
            <p:ph type="subTitle" idx="4"/>
          </p:nvPr>
        </p:nvSpPr>
        <p:spPr>
          <a:xfrm>
            <a:off x="5061325" y="1871014"/>
            <a:ext cx="3854400" cy="5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ClienteDAO, ProductoDAO y VentaDAO concentran el SQL, separado de la lógica de negocio</a:t>
            </a:r>
            <a:endParaRPr dirty="0"/>
          </a:p>
        </p:txBody>
      </p:sp>
      <p:sp>
        <p:nvSpPr>
          <p:cNvPr id="263" name="Google Shape;263;p36"/>
          <p:cNvSpPr txBox="1">
            <a:spLocks noGrp="1"/>
          </p:cNvSpPr>
          <p:nvPr>
            <p:ph type="subTitle" idx="5"/>
          </p:nvPr>
        </p:nvSpPr>
        <p:spPr>
          <a:xfrm>
            <a:off x="5061325" y="1452568"/>
            <a:ext cx="38544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Patrón DAO</a:t>
            </a:r>
            <a:endParaRPr/>
          </a:p>
        </p:txBody>
      </p:sp>
      <p:sp>
        <p:nvSpPr>
          <p:cNvPr id="264" name="Google Shape;264;p36"/>
          <p:cNvSpPr txBox="1">
            <a:spLocks noGrp="1"/>
          </p:cNvSpPr>
          <p:nvPr>
            <p:ph type="title" idx="6"/>
          </p:nvPr>
        </p:nvSpPr>
        <p:spPr>
          <a:xfrm>
            <a:off x="4500325" y="1452487"/>
            <a:ext cx="5610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65" name="Google Shape;265;p36"/>
          <p:cNvSpPr txBox="1">
            <a:spLocks noGrp="1"/>
          </p:cNvSpPr>
          <p:nvPr>
            <p:ph type="subTitle" idx="7"/>
          </p:nvPr>
        </p:nvSpPr>
        <p:spPr>
          <a:xfrm>
            <a:off x="5061325" y="3094907"/>
            <a:ext cx="3854400" cy="5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Venta y DetalleVenta se confirman o revierten juntos, como una sola transacción</a:t>
            </a:r>
            <a:endParaRPr/>
          </a:p>
        </p:txBody>
      </p:sp>
      <p:sp>
        <p:nvSpPr>
          <p:cNvPr id="266" name="Google Shape;266;p36"/>
          <p:cNvSpPr txBox="1">
            <a:spLocks noGrp="1"/>
          </p:cNvSpPr>
          <p:nvPr>
            <p:ph type="subTitle" idx="8"/>
          </p:nvPr>
        </p:nvSpPr>
        <p:spPr>
          <a:xfrm>
            <a:off x="5061325" y="2676461"/>
            <a:ext cx="38544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Transacciones</a:t>
            </a:r>
            <a:endParaRPr/>
          </a:p>
        </p:txBody>
      </p:sp>
      <p:sp>
        <p:nvSpPr>
          <p:cNvPr id="267" name="Google Shape;267;p36"/>
          <p:cNvSpPr txBox="1">
            <a:spLocks noGrp="1"/>
          </p:cNvSpPr>
          <p:nvPr>
            <p:ph type="title" idx="9"/>
          </p:nvPr>
        </p:nvSpPr>
        <p:spPr>
          <a:xfrm>
            <a:off x="4500325" y="2676378"/>
            <a:ext cx="5610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68" name="Google Shape;268;p36"/>
          <p:cNvSpPr txBox="1">
            <a:spLocks noGrp="1"/>
          </p:cNvSpPr>
          <p:nvPr>
            <p:ph type="subTitle" idx="13"/>
          </p:nvPr>
        </p:nvSpPr>
        <p:spPr>
          <a:xfrm>
            <a:off x="5061325" y="4318799"/>
            <a:ext cx="3854400" cy="5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Ventas de un cliente mediante INNER JOIN con Cliente, filtrando por código</a:t>
            </a:r>
            <a:endParaRPr/>
          </a:p>
        </p:txBody>
      </p:sp>
      <p:sp>
        <p:nvSpPr>
          <p:cNvPr id="269" name="Google Shape;269;p36"/>
          <p:cNvSpPr txBox="1">
            <a:spLocks noGrp="1"/>
          </p:cNvSpPr>
          <p:nvPr>
            <p:ph type="subTitle" idx="14"/>
          </p:nvPr>
        </p:nvSpPr>
        <p:spPr>
          <a:xfrm>
            <a:off x="5061325" y="3900353"/>
            <a:ext cx="38544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Consultas con JOIN</a:t>
            </a:r>
            <a:endParaRPr/>
          </a:p>
        </p:txBody>
      </p:sp>
      <p:sp>
        <p:nvSpPr>
          <p:cNvPr id="270" name="Google Shape;270;p36"/>
          <p:cNvSpPr txBox="1">
            <a:spLocks noGrp="1"/>
          </p:cNvSpPr>
          <p:nvPr>
            <p:ph type="title" idx="15"/>
          </p:nvPr>
        </p:nvSpPr>
        <p:spPr>
          <a:xfrm>
            <a:off x="4500325" y="3900270"/>
            <a:ext cx="5610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pic>
        <p:nvPicPr>
          <p:cNvPr id="501" name="Captura SSMS" title="ssms-clientes.png"/>
          <p:cNvPicPr preferRelativeResize="0">
            <a:picLocks noGrp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79999"/>
            <a:ext cx="2385622" cy="1508952"/>
          </a:xfrm>
          <a:prstGeom prst="rect">
            <a:avLst/>
          </a:prstGeom>
          <a:ln w="9525">
            <a:solidFill>
              <a:schemeClr val="dk1">
                <a:alpha val="20000"/>
              </a:schemeClr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>
            <a:spLocks noGrp="1"/>
          </p:cNvSpPr>
          <p:nvPr>
            <p:ph type="title"/>
          </p:nvPr>
        </p:nvSpPr>
        <p:spPr>
          <a:xfrm>
            <a:off x="228600" y="554398"/>
            <a:ext cx="3201600" cy="197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/>
              <a:t>Interfaz gráfica</a:t>
            </a: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/>
              <a:t>(demo)</a:t>
            </a:r>
            <a:endParaRPr/>
          </a:p>
        </p:txBody>
      </p:sp>
      <p:pic>
        <p:nvPicPr>
          <p:cNvPr id="229" name="Google Shape;229;p33" title="gui-registrar-venta.png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31668" y="3039102"/>
            <a:ext cx="2033900" cy="1550000"/>
          </a:xfrm>
          <a:prstGeom prst="rect">
            <a:avLst/>
          </a:prstGeom>
        </p:spPr>
      </p:pic>
      <p:pic>
        <p:nvPicPr>
          <p:cNvPr id="402" name="Captura Clientes" title="gui-clientes.png"/>
          <p:cNvPicPr preferRelativeResize="0">
            <a:picLocks noGrp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93300" y="3039102"/>
            <a:ext cx="1982700" cy="1550000"/>
          </a:xfrm>
          <a:prstGeom prst="rect">
            <a:avLst/>
          </a:prstGeom>
        </p:spPr>
      </p:pic>
      <p:pic>
        <p:nvPicPr>
          <p:cNvPr id="404" name="Captura Productos" title="gui-productos.png"/>
          <p:cNvPicPr preferRelativeResize="0">
            <a:picLocks noGrp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02418" y="3039102"/>
            <a:ext cx="2008700" cy="1550000"/>
          </a:xfrm>
          <a:prstGeom prst="rect">
            <a:avLst/>
          </a:prstGeom>
        </p:spPr>
      </p:pic>
      <p:sp>
        <p:nvSpPr>
          <p:cNvPr id="230" name="Google Shape;230;p33"/>
          <p:cNvSpPr txBox="1">
            <a:spLocks noGrp="1"/>
          </p:cNvSpPr>
          <p:nvPr>
            <p:ph type="subTitle" idx="1"/>
          </p:nvPr>
        </p:nvSpPr>
        <p:spPr>
          <a:xfrm>
            <a:off x="3995400" y="228600"/>
            <a:ext cx="4920300" cy="22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Una sola ventana (JFrame) con cuatro pestañas: Clientes, Productos, Registrar Venta y Consultar Ventas. La interfaz reutiliza siempre la lógica de los servicios; nunca ejecuta SQL directamente</a:t>
            </a:r>
            <a:endParaRPr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7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3594000" cy="9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200"/>
              <a:t>Resultados</a:t>
            </a:r>
            <a:endParaRPr sz="3200"/>
          </a:p>
        </p:txBody>
      </p:sp>
      <p:sp>
        <p:nvSpPr>
          <p:cNvPr id="276" name="Google Shape;276;p37"/>
          <p:cNvSpPr txBox="1">
            <a:spLocks noGrp="1"/>
          </p:cNvSpPr>
          <p:nvPr>
            <p:ph type="title" idx="2"/>
          </p:nvPr>
        </p:nvSpPr>
        <p:spPr>
          <a:xfrm>
            <a:off x="228719" y="2952800"/>
            <a:ext cx="2400600" cy="13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6</a:t>
            </a:r>
            <a:endParaRPr sz="7200"/>
          </a:p>
        </p:txBody>
      </p:sp>
      <p:sp>
        <p:nvSpPr>
          <p:cNvPr id="277" name="Google Shape;277;p37"/>
          <p:cNvSpPr txBox="1">
            <a:spLocks noGrp="1"/>
          </p:cNvSpPr>
          <p:nvPr>
            <p:ph type="subTitle" idx="1"/>
          </p:nvPr>
        </p:nvSpPr>
        <p:spPr>
          <a:xfrm>
            <a:off x="228600" y="1157700"/>
            <a:ext cx="35940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 los requerimientos comprometidos quedaron implementados y verificados contra LibreriaBazarDB</a:t>
            </a:r>
            <a:endParaRPr/>
          </a:p>
        </p:txBody>
      </p:sp>
      <p:sp>
        <p:nvSpPr>
          <p:cNvPr id="278" name="Google Shape;278;p37"/>
          <p:cNvSpPr txBox="1">
            <a:spLocks noGrp="1"/>
          </p:cNvSpPr>
          <p:nvPr>
            <p:ph type="title" idx="3"/>
          </p:nvPr>
        </p:nvSpPr>
        <p:spPr>
          <a:xfrm>
            <a:off x="6314739" y="2952800"/>
            <a:ext cx="2600952" cy="13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100%</a:t>
            </a:r>
            <a:endParaRPr sz="7200" dirty="0"/>
          </a:p>
        </p:txBody>
      </p:sp>
      <p:sp>
        <p:nvSpPr>
          <p:cNvPr id="279" name="Google Shape;279;p37"/>
          <p:cNvSpPr txBox="1">
            <a:spLocks noGrp="1"/>
          </p:cNvSpPr>
          <p:nvPr>
            <p:ph type="title" idx="4"/>
          </p:nvPr>
        </p:nvSpPr>
        <p:spPr>
          <a:xfrm>
            <a:off x="3371760" y="2952800"/>
            <a:ext cx="2400600" cy="13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5/5</a:t>
            </a:r>
            <a:endParaRPr sz="7200"/>
          </a:p>
        </p:txBody>
      </p:sp>
      <p:sp>
        <p:nvSpPr>
          <p:cNvPr id="280" name="Google Shape;280;p37"/>
          <p:cNvSpPr txBox="1">
            <a:spLocks noGrp="1"/>
          </p:cNvSpPr>
          <p:nvPr>
            <p:ph type="subTitle" idx="5"/>
          </p:nvPr>
        </p:nvSpPr>
        <p:spPr>
          <a:xfrm>
            <a:off x="228600" y="4155300"/>
            <a:ext cx="2400600" cy="7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Requerimientos no funcionales cumplidos</a:t>
            </a:r>
            <a:endParaRPr/>
          </a:p>
        </p:txBody>
      </p:sp>
      <p:sp>
        <p:nvSpPr>
          <p:cNvPr id="281" name="Google Shape;281;p37"/>
          <p:cNvSpPr txBox="1">
            <a:spLocks noGrp="1"/>
          </p:cNvSpPr>
          <p:nvPr>
            <p:ph type="subTitle" idx="6"/>
          </p:nvPr>
        </p:nvSpPr>
        <p:spPr>
          <a:xfrm>
            <a:off x="6514972" y="4155300"/>
            <a:ext cx="2400600" cy="7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 los flujos principales sin fallas críticas</a:t>
            </a:r>
            <a:endParaRPr/>
          </a:p>
        </p:txBody>
      </p:sp>
      <p:sp>
        <p:nvSpPr>
          <p:cNvPr id="282" name="Google Shape;282;p37"/>
          <p:cNvSpPr txBox="1">
            <a:spLocks noGrp="1"/>
          </p:cNvSpPr>
          <p:nvPr>
            <p:ph type="subTitle" idx="7"/>
          </p:nvPr>
        </p:nvSpPr>
        <p:spPr>
          <a:xfrm>
            <a:off x="3371640" y="4155300"/>
            <a:ext cx="2400600" cy="7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específicos alcanzados</a:t>
            </a:r>
            <a:endParaRPr/>
          </a:p>
        </p:txBody>
      </p:sp>
      <p:sp>
        <p:nvSpPr>
          <p:cNvPr id="283" name="Google Shape;283;p37"/>
          <p:cNvSpPr txBox="1">
            <a:spLocks noGrp="1"/>
          </p:cNvSpPr>
          <p:nvPr>
            <p:ph type="title" idx="8"/>
          </p:nvPr>
        </p:nvSpPr>
        <p:spPr>
          <a:xfrm>
            <a:off x="6515091" y="228600"/>
            <a:ext cx="2400600" cy="131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40</a:t>
            </a:r>
            <a:endParaRPr sz="7200"/>
          </a:p>
        </p:txBody>
      </p:sp>
      <p:sp>
        <p:nvSpPr>
          <p:cNvPr id="284" name="Google Shape;284;p37"/>
          <p:cNvSpPr txBox="1">
            <a:spLocks noGrp="1"/>
          </p:cNvSpPr>
          <p:nvPr>
            <p:ph type="subTitle" idx="9"/>
          </p:nvPr>
        </p:nvSpPr>
        <p:spPr>
          <a:xfrm>
            <a:off x="6514972" y="1431100"/>
            <a:ext cx="2400600" cy="7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Requerimientos funcionales implementados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8"/>
          <p:cNvSpPr txBox="1">
            <a:spLocks noGrp="1"/>
          </p:cNvSpPr>
          <p:nvPr>
            <p:ph type="title"/>
          </p:nvPr>
        </p:nvSpPr>
        <p:spPr>
          <a:xfrm>
            <a:off x="228600" y="228600"/>
            <a:ext cx="8686500" cy="76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Distribución de RF por módulo</a:t>
            </a:r>
            <a:endParaRPr/>
          </a:p>
        </p:txBody>
      </p:sp>
      <p:sp>
        <p:nvSpPr>
          <p:cNvPr id="290" name="Google Shape;290;p38"/>
          <p:cNvSpPr/>
          <p:nvPr/>
        </p:nvSpPr>
        <p:spPr>
          <a:xfrm>
            <a:off x="225700" y="1790125"/>
            <a:ext cx="128100" cy="498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91" name="Google Shape;291;p38"/>
          <p:cNvSpPr/>
          <p:nvPr/>
        </p:nvSpPr>
        <p:spPr>
          <a:xfrm>
            <a:off x="433501" y="1790125"/>
            <a:ext cx="128100" cy="498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92" name="Google Shape;292;p38"/>
          <p:cNvSpPr/>
          <p:nvPr/>
        </p:nvSpPr>
        <p:spPr>
          <a:xfrm>
            <a:off x="641303" y="1790125"/>
            <a:ext cx="128100" cy="498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93" name="Google Shape;293;p38"/>
          <p:cNvSpPr/>
          <p:nvPr/>
        </p:nvSpPr>
        <p:spPr>
          <a:xfrm>
            <a:off x="849104" y="1790125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94" name="Google Shape;294;p38"/>
          <p:cNvSpPr/>
          <p:nvPr/>
        </p:nvSpPr>
        <p:spPr>
          <a:xfrm>
            <a:off x="1056906" y="1790125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95" name="Google Shape;295;p38"/>
          <p:cNvSpPr/>
          <p:nvPr/>
        </p:nvSpPr>
        <p:spPr>
          <a:xfrm>
            <a:off x="1264707" y="1790125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96" name="Google Shape;296;p38"/>
          <p:cNvSpPr/>
          <p:nvPr/>
        </p:nvSpPr>
        <p:spPr>
          <a:xfrm>
            <a:off x="1472508" y="1790125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97" name="Google Shape;297;p38"/>
          <p:cNvSpPr/>
          <p:nvPr/>
        </p:nvSpPr>
        <p:spPr>
          <a:xfrm>
            <a:off x="1680310" y="1790125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98" name="Google Shape;298;p38"/>
          <p:cNvSpPr/>
          <p:nvPr/>
        </p:nvSpPr>
        <p:spPr>
          <a:xfrm>
            <a:off x="1888111" y="1790125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99" name="Google Shape;299;p38"/>
          <p:cNvSpPr/>
          <p:nvPr/>
        </p:nvSpPr>
        <p:spPr>
          <a:xfrm>
            <a:off x="2095913" y="1790125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00" name="Google Shape;300;p38"/>
          <p:cNvSpPr txBox="1"/>
          <p:nvPr/>
        </p:nvSpPr>
        <p:spPr>
          <a:xfrm>
            <a:off x="228600" y="2393750"/>
            <a:ext cx="1998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25%</a:t>
            </a:r>
            <a:endParaRPr sz="5000">
              <a:solidFill>
                <a:schemeClr val="dk2"/>
              </a:solidFill>
              <a:latin typeface="Bricolage Grotesque ExtraLight"/>
              <a:ea typeface="Bricolage Grotesque ExtraLight"/>
              <a:cs typeface="Bricolage Grotesque ExtraLight"/>
              <a:sym typeface="Bricolage Grotesque ExtraLight"/>
            </a:endParaRPr>
          </a:p>
        </p:txBody>
      </p:sp>
      <p:sp>
        <p:nvSpPr>
          <p:cNvPr id="301" name="Google Shape;301;p38"/>
          <p:cNvSpPr txBox="1"/>
          <p:nvPr/>
        </p:nvSpPr>
        <p:spPr>
          <a:xfrm>
            <a:off x="2369000" y="1790125"/>
            <a:ext cx="2046300" cy="14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Heebo"/>
                <a:ea typeface="Heebo"/>
                <a:cs typeface="Heebo"/>
                <a:sym typeface="Heebo"/>
              </a:rPr>
              <a:t>Módulo Clientes (RF-01 a RF-10): registrar, validar, buscar, actualizar y eliminar</a:t>
            </a:r>
            <a:endParaRPr sz="1200">
              <a:solidFill>
                <a:schemeClr val="dk2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02" name="Google Shape;302;p38"/>
          <p:cNvSpPr/>
          <p:nvPr/>
        </p:nvSpPr>
        <p:spPr>
          <a:xfrm>
            <a:off x="225700" y="3456150"/>
            <a:ext cx="128100" cy="498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03" name="Google Shape;303;p38"/>
          <p:cNvSpPr/>
          <p:nvPr/>
        </p:nvSpPr>
        <p:spPr>
          <a:xfrm>
            <a:off x="433501" y="3456150"/>
            <a:ext cx="128100" cy="498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04" name="Google Shape;304;p38"/>
          <p:cNvSpPr/>
          <p:nvPr/>
        </p:nvSpPr>
        <p:spPr>
          <a:xfrm>
            <a:off x="641303" y="3456150"/>
            <a:ext cx="128100" cy="498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05" name="Google Shape;305;p38"/>
          <p:cNvSpPr/>
          <p:nvPr/>
        </p:nvSpPr>
        <p:spPr>
          <a:xfrm>
            <a:off x="849104" y="3456150"/>
            <a:ext cx="128100" cy="498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06" name="Google Shape;306;p38"/>
          <p:cNvSpPr/>
          <p:nvPr/>
        </p:nvSpPr>
        <p:spPr>
          <a:xfrm>
            <a:off x="1056906" y="3456150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07" name="Google Shape;307;p38"/>
          <p:cNvSpPr/>
          <p:nvPr/>
        </p:nvSpPr>
        <p:spPr>
          <a:xfrm>
            <a:off x="1264707" y="3456150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08" name="Google Shape;308;p38"/>
          <p:cNvSpPr/>
          <p:nvPr/>
        </p:nvSpPr>
        <p:spPr>
          <a:xfrm>
            <a:off x="1472508" y="3456150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09" name="Google Shape;309;p38"/>
          <p:cNvSpPr/>
          <p:nvPr/>
        </p:nvSpPr>
        <p:spPr>
          <a:xfrm>
            <a:off x="1680310" y="3456150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10" name="Google Shape;310;p38"/>
          <p:cNvSpPr/>
          <p:nvPr/>
        </p:nvSpPr>
        <p:spPr>
          <a:xfrm>
            <a:off x="1888111" y="3456150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11" name="Google Shape;311;p38"/>
          <p:cNvSpPr/>
          <p:nvPr/>
        </p:nvSpPr>
        <p:spPr>
          <a:xfrm>
            <a:off x="2095913" y="3456150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12" name="Google Shape;312;p38"/>
          <p:cNvSpPr txBox="1"/>
          <p:nvPr/>
        </p:nvSpPr>
        <p:spPr>
          <a:xfrm>
            <a:off x="228600" y="4059775"/>
            <a:ext cx="1998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35%</a:t>
            </a:r>
            <a:endParaRPr sz="5000">
              <a:solidFill>
                <a:schemeClr val="dk2"/>
              </a:solidFill>
              <a:latin typeface="Bricolage Grotesque ExtraLight"/>
              <a:ea typeface="Bricolage Grotesque ExtraLight"/>
              <a:cs typeface="Bricolage Grotesque ExtraLight"/>
              <a:sym typeface="Bricolage Grotesque ExtraLight"/>
            </a:endParaRPr>
          </a:p>
        </p:txBody>
      </p:sp>
      <p:sp>
        <p:nvSpPr>
          <p:cNvPr id="313" name="Google Shape;313;p38"/>
          <p:cNvSpPr txBox="1"/>
          <p:nvPr/>
        </p:nvSpPr>
        <p:spPr>
          <a:xfrm>
            <a:off x="2369000" y="3456150"/>
            <a:ext cx="2046300" cy="14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Heebo"/>
                <a:ea typeface="Heebo"/>
                <a:cs typeface="Heebo"/>
                <a:sym typeface="Heebo"/>
              </a:rPr>
              <a:t>Módulo Ventas (RF-21 a RF-34): registro transaccional, subtotal, total y consultas</a:t>
            </a:r>
            <a:endParaRPr sz="1200">
              <a:solidFill>
                <a:schemeClr val="dk2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14" name="Google Shape;314;p38"/>
          <p:cNvSpPr/>
          <p:nvPr/>
        </p:nvSpPr>
        <p:spPr>
          <a:xfrm>
            <a:off x="4725500" y="1790125"/>
            <a:ext cx="128100" cy="498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15" name="Google Shape;315;p38"/>
          <p:cNvSpPr/>
          <p:nvPr/>
        </p:nvSpPr>
        <p:spPr>
          <a:xfrm>
            <a:off x="4933301" y="1790125"/>
            <a:ext cx="128100" cy="498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16" name="Google Shape;316;p38"/>
          <p:cNvSpPr/>
          <p:nvPr/>
        </p:nvSpPr>
        <p:spPr>
          <a:xfrm>
            <a:off x="5141103" y="1790125"/>
            <a:ext cx="128100" cy="498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17" name="Google Shape;317;p38"/>
          <p:cNvSpPr/>
          <p:nvPr/>
        </p:nvSpPr>
        <p:spPr>
          <a:xfrm>
            <a:off x="5348904" y="1790125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18" name="Google Shape;318;p38"/>
          <p:cNvSpPr/>
          <p:nvPr/>
        </p:nvSpPr>
        <p:spPr>
          <a:xfrm>
            <a:off x="5556706" y="1790125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19" name="Google Shape;319;p38"/>
          <p:cNvSpPr/>
          <p:nvPr/>
        </p:nvSpPr>
        <p:spPr>
          <a:xfrm>
            <a:off x="5764507" y="1790125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20" name="Google Shape;320;p38"/>
          <p:cNvSpPr/>
          <p:nvPr/>
        </p:nvSpPr>
        <p:spPr>
          <a:xfrm>
            <a:off x="5972308" y="1790125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21" name="Google Shape;321;p38"/>
          <p:cNvSpPr/>
          <p:nvPr/>
        </p:nvSpPr>
        <p:spPr>
          <a:xfrm>
            <a:off x="6180110" y="1790125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22" name="Google Shape;322;p38"/>
          <p:cNvSpPr/>
          <p:nvPr/>
        </p:nvSpPr>
        <p:spPr>
          <a:xfrm>
            <a:off x="6387911" y="1790125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23" name="Google Shape;323;p38"/>
          <p:cNvSpPr/>
          <p:nvPr/>
        </p:nvSpPr>
        <p:spPr>
          <a:xfrm>
            <a:off x="6595713" y="1790125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24" name="Google Shape;324;p38"/>
          <p:cNvSpPr txBox="1"/>
          <p:nvPr/>
        </p:nvSpPr>
        <p:spPr>
          <a:xfrm>
            <a:off x="4728400" y="2393750"/>
            <a:ext cx="1998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25%</a:t>
            </a:r>
            <a:endParaRPr sz="5000">
              <a:solidFill>
                <a:schemeClr val="dk2"/>
              </a:solidFill>
              <a:latin typeface="Bricolage Grotesque ExtraLight"/>
              <a:ea typeface="Bricolage Grotesque ExtraLight"/>
              <a:cs typeface="Bricolage Grotesque ExtraLight"/>
              <a:sym typeface="Bricolage Grotesque ExtraLight"/>
            </a:endParaRPr>
          </a:p>
        </p:txBody>
      </p:sp>
      <p:sp>
        <p:nvSpPr>
          <p:cNvPr id="325" name="Google Shape;325;p38"/>
          <p:cNvSpPr txBox="1"/>
          <p:nvPr/>
        </p:nvSpPr>
        <p:spPr>
          <a:xfrm>
            <a:off x="6868800" y="1790125"/>
            <a:ext cx="2046300" cy="14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Heebo"/>
                <a:ea typeface="Heebo"/>
                <a:cs typeface="Heebo"/>
                <a:sym typeface="Heebo"/>
              </a:rPr>
              <a:t>Módulo Productos (RF-11 a RF-20): catálogo con herencia y precio final polimórfico</a:t>
            </a:r>
            <a:endParaRPr sz="1200">
              <a:solidFill>
                <a:schemeClr val="dk2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26" name="Google Shape;326;p38"/>
          <p:cNvSpPr/>
          <p:nvPr/>
        </p:nvSpPr>
        <p:spPr>
          <a:xfrm>
            <a:off x="4725500" y="3456150"/>
            <a:ext cx="128100" cy="498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27" name="Google Shape;327;p38"/>
          <p:cNvSpPr/>
          <p:nvPr/>
        </p:nvSpPr>
        <p:spPr>
          <a:xfrm>
            <a:off x="4933301" y="3456150"/>
            <a:ext cx="128100" cy="4989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28" name="Google Shape;328;p38"/>
          <p:cNvSpPr/>
          <p:nvPr/>
        </p:nvSpPr>
        <p:spPr>
          <a:xfrm>
            <a:off x="5141103" y="3456150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29" name="Google Shape;329;p38"/>
          <p:cNvSpPr/>
          <p:nvPr/>
        </p:nvSpPr>
        <p:spPr>
          <a:xfrm>
            <a:off x="5348904" y="3456150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30" name="Google Shape;330;p38"/>
          <p:cNvSpPr/>
          <p:nvPr/>
        </p:nvSpPr>
        <p:spPr>
          <a:xfrm>
            <a:off x="5556706" y="3456150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31" name="Google Shape;331;p38"/>
          <p:cNvSpPr/>
          <p:nvPr/>
        </p:nvSpPr>
        <p:spPr>
          <a:xfrm>
            <a:off x="5764507" y="3456150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32" name="Google Shape;332;p38"/>
          <p:cNvSpPr/>
          <p:nvPr/>
        </p:nvSpPr>
        <p:spPr>
          <a:xfrm>
            <a:off x="5972308" y="3456150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33" name="Google Shape;333;p38"/>
          <p:cNvSpPr/>
          <p:nvPr/>
        </p:nvSpPr>
        <p:spPr>
          <a:xfrm>
            <a:off x="6180110" y="3456150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34" name="Google Shape;334;p38"/>
          <p:cNvSpPr/>
          <p:nvPr/>
        </p:nvSpPr>
        <p:spPr>
          <a:xfrm>
            <a:off x="6387911" y="3456150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35" name="Google Shape;335;p38"/>
          <p:cNvSpPr/>
          <p:nvPr/>
        </p:nvSpPr>
        <p:spPr>
          <a:xfrm>
            <a:off x="6595713" y="3456150"/>
            <a:ext cx="128100" cy="498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36" name="Google Shape;336;p38"/>
          <p:cNvSpPr txBox="1"/>
          <p:nvPr/>
        </p:nvSpPr>
        <p:spPr>
          <a:xfrm>
            <a:off x="4728400" y="4059775"/>
            <a:ext cx="19983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15%</a:t>
            </a:r>
            <a:endParaRPr sz="5000">
              <a:solidFill>
                <a:schemeClr val="dk2"/>
              </a:solidFill>
              <a:latin typeface="Bricolage Grotesque ExtraLight"/>
              <a:ea typeface="Bricolage Grotesque ExtraLight"/>
              <a:cs typeface="Bricolage Grotesque ExtraLight"/>
              <a:sym typeface="Bricolage Grotesque ExtraLight"/>
            </a:endParaRPr>
          </a:p>
        </p:txBody>
      </p:sp>
      <p:sp>
        <p:nvSpPr>
          <p:cNvPr id="337" name="Google Shape;337;p38"/>
          <p:cNvSpPr txBox="1"/>
          <p:nvPr/>
        </p:nvSpPr>
        <p:spPr>
          <a:xfrm>
            <a:off x="6868800" y="3456150"/>
            <a:ext cx="2046300" cy="14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Heebo"/>
                <a:ea typeface="Heebo"/>
                <a:cs typeface="Heebo"/>
                <a:sym typeface="Heebo"/>
              </a:rPr>
              <a:t>Interfaz general (RF-35 a RF-40): navegación, validaciones y mensajes al usuario</a:t>
            </a:r>
            <a:endParaRPr sz="1200">
              <a:solidFill>
                <a:schemeClr val="dk2"/>
              </a:solidFill>
              <a:latin typeface="Heebo"/>
              <a:ea typeface="Heebo"/>
              <a:cs typeface="Heebo"/>
              <a:sym typeface="Heeb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>
            <a:spLocks noGrp="1"/>
          </p:cNvSpPr>
          <p:nvPr>
            <p:ph type="title"/>
          </p:nvPr>
        </p:nvSpPr>
        <p:spPr>
          <a:xfrm>
            <a:off x="228600" y="1159200"/>
            <a:ext cx="3248700" cy="282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/>
              <a:t>Conclusión final</a:t>
            </a:r>
            <a:endParaRPr/>
          </a:p>
        </p:txBody>
      </p:sp>
      <p:sp>
        <p:nvSpPr>
          <p:cNvPr id="259" name="Google Shape;259;p36"/>
          <p:cNvSpPr txBox="1">
            <a:spLocks noGrp="1"/>
          </p:cNvSpPr>
          <p:nvPr>
            <p:ph type="subTitle" idx="1"/>
          </p:nvPr>
        </p:nvSpPr>
        <p:spPr>
          <a:xfrm>
            <a:off x="5061325" y="647121"/>
            <a:ext cx="3854400" cy="5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Centralizar y validar los datos en SQL Server resuelve la dispersión y los errores del registro manual</a:t>
            </a:r>
            <a:endParaRPr/>
          </a:p>
        </p:txBody>
      </p:sp>
      <p:sp>
        <p:nvSpPr>
          <p:cNvPr id="260" name="Google Shape;260;p36"/>
          <p:cNvSpPr txBox="1">
            <a:spLocks noGrp="1"/>
          </p:cNvSpPr>
          <p:nvPr>
            <p:ph type="subTitle" idx="2"/>
          </p:nvPr>
        </p:nvSpPr>
        <p:spPr>
          <a:xfrm>
            <a:off x="5061325" y="228675"/>
            <a:ext cx="38544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Datos centralizados</a:t>
            </a:r>
            <a:endParaRPr/>
          </a:p>
        </p:txBody>
      </p:sp>
      <p:sp>
        <p:nvSpPr>
          <p:cNvPr id="261" name="Google Shape;261;p36"/>
          <p:cNvSpPr txBox="1">
            <a:spLocks noGrp="1"/>
          </p:cNvSpPr>
          <p:nvPr>
            <p:ph type="title" idx="3"/>
          </p:nvPr>
        </p:nvSpPr>
        <p:spPr>
          <a:xfrm>
            <a:off x="4500325" y="228595"/>
            <a:ext cx="5610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62" name="Google Shape;262;p36"/>
          <p:cNvSpPr txBox="1">
            <a:spLocks noGrp="1"/>
          </p:cNvSpPr>
          <p:nvPr>
            <p:ph type="subTitle" idx="4"/>
          </p:nvPr>
        </p:nvSpPr>
        <p:spPr>
          <a:xfrm>
            <a:off x="5061325" y="1871014"/>
            <a:ext cx="3854400" cy="5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jerarquía abstracta de Producto evita duplicar la lógica de precios entre sus tres subtipos</a:t>
            </a:r>
            <a:endParaRPr/>
          </a:p>
        </p:txBody>
      </p:sp>
      <p:sp>
        <p:nvSpPr>
          <p:cNvPr id="263" name="Google Shape;263;p36"/>
          <p:cNvSpPr txBox="1">
            <a:spLocks noGrp="1"/>
          </p:cNvSpPr>
          <p:nvPr>
            <p:ph type="subTitle" idx="5"/>
          </p:nvPr>
        </p:nvSpPr>
        <p:spPr>
          <a:xfrm>
            <a:off x="5061325" y="1452568"/>
            <a:ext cx="38544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Diseño orientado a objetos</a:t>
            </a:r>
            <a:endParaRPr/>
          </a:p>
        </p:txBody>
      </p:sp>
      <p:sp>
        <p:nvSpPr>
          <p:cNvPr id="264" name="Google Shape;264;p36"/>
          <p:cNvSpPr txBox="1">
            <a:spLocks noGrp="1"/>
          </p:cNvSpPr>
          <p:nvPr>
            <p:ph type="title" idx="6"/>
          </p:nvPr>
        </p:nvSpPr>
        <p:spPr>
          <a:xfrm>
            <a:off x="4500325" y="1452487"/>
            <a:ext cx="5610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65" name="Google Shape;265;p36"/>
          <p:cNvSpPr txBox="1">
            <a:spLocks noGrp="1"/>
          </p:cNvSpPr>
          <p:nvPr>
            <p:ph type="subTitle" idx="7"/>
          </p:nvPr>
        </p:nvSpPr>
        <p:spPr>
          <a:xfrm>
            <a:off x="5061325" y="3094907"/>
            <a:ext cx="3854400" cy="5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JDBC con el patrón DAO y transacciones garantiza integridad referencial y atomicidad</a:t>
            </a:r>
            <a:endParaRPr/>
          </a:p>
        </p:txBody>
      </p:sp>
      <p:sp>
        <p:nvSpPr>
          <p:cNvPr id="266" name="Google Shape;266;p36"/>
          <p:cNvSpPr txBox="1">
            <a:spLocks noGrp="1"/>
          </p:cNvSpPr>
          <p:nvPr>
            <p:ph type="subTitle" idx="8"/>
          </p:nvPr>
        </p:nvSpPr>
        <p:spPr>
          <a:xfrm>
            <a:off x="5061325" y="2676461"/>
            <a:ext cx="38544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Persistencia confiable</a:t>
            </a:r>
            <a:endParaRPr/>
          </a:p>
        </p:txBody>
      </p:sp>
      <p:sp>
        <p:nvSpPr>
          <p:cNvPr id="267" name="Google Shape;267;p36"/>
          <p:cNvSpPr txBox="1">
            <a:spLocks noGrp="1"/>
          </p:cNvSpPr>
          <p:nvPr>
            <p:ph type="title" idx="9"/>
          </p:nvPr>
        </p:nvSpPr>
        <p:spPr>
          <a:xfrm>
            <a:off x="4500325" y="2676378"/>
            <a:ext cx="5610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68" name="Google Shape;268;p36"/>
          <p:cNvSpPr txBox="1">
            <a:spLocks noGrp="1"/>
          </p:cNvSpPr>
          <p:nvPr>
            <p:ph type="subTitle" idx="13"/>
          </p:nvPr>
        </p:nvSpPr>
        <p:spPr>
          <a:xfrm>
            <a:off x="5061325" y="4318799"/>
            <a:ext cx="3854400" cy="5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cálculo automático y polimórfico del total eliminó una fuente clave de error del proceso manual</a:t>
            </a:r>
            <a:endParaRPr/>
          </a:p>
        </p:txBody>
      </p:sp>
      <p:sp>
        <p:nvSpPr>
          <p:cNvPr id="269" name="Google Shape;269;p36"/>
          <p:cNvSpPr txBox="1">
            <a:spLocks noGrp="1"/>
          </p:cNvSpPr>
          <p:nvPr>
            <p:ph type="subTitle" idx="14"/>
          </p:nvPr>
        </p:nvSpPr>
        <p:spPr>
          <a:xfrm>
            <a:off x="5061325" y="3900353"/>
            <a:ext cx="38544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Cálculo automático</a:t>
            </a:r>
            <a:endParaRPr/>
          </a:p>
        </p:txBody>
      </p:sp>
      <p:sp>
        <p:nvSpPr>
          <p:cNvPr id="270" name="Google Shape;270;p36"/>
          <p:cNvSpPr txBox="1">
            <a:spLocks noGrp="1"/>
          </p:cNvSpPr>
          <p:nvPr>
            <p:ph type="title" idx="15"/>
          </p:nvPr>
        </p:nvSpPr>
        <p:spPr>
          <a:xfrm>
            <a:off x="4500325" y="3900270"/>
            <a:ext cx="561000" cy="48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"/>
          <p:cNvSpPr txBox="1">
            <a:spLocks noGrp="1"/>
          </p:cNvSpPr>
          <p:nvPr>
            <p:ph type="title"/>
          </p:nvPr>
        </p:nvSpPr>
        <p:spPr>
          <a:xfrm>
            <a:off x="3054850" y="3056150"/>
            <a:ext cx="5860500" cy="183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0" dirty="0"/>
              <a:t>Gracias</a:t>
            </a:r>
            <a:endParaRPr sz="100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5000" b="0" dirty="0"/>
              <a:t>-------</a:t>
            </a:r>
            <a:endParaRPr sz="5000" dirty="0"/>
          </a:p>
        </p:txBody>
      </p:sp>
      <p:sp>
        <p:nvSpPr>
          <p:cNvPr id="353" name="Google Shape;353;p40"/>
          <p:cNvSpPr txBox="1">
            <a:spLocks noGrp="1"/>
          </p:cNvSpPr>
          <p:nvPr>
            <p:ph type="subTitle" idx="1"/>
          </p:nvPr>
        </p:nvSpPr>
        <p:spPr>
          <a:xfrm>
            <a:off x="4425843" y="228611"/>
            <a:ext cx="24909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/>
              <a:t>Helaman Garcia Silva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Ingenieria de Sistemas Computacionales</a:t>
            </a:r>
            <a:endParaRPr dirty="0"/>
          </a:p>
        </p:txBody>
      </p:sp>
      <p:sp>
        <p:nvSpPr>
          <p:cNvPr id="354" name="Google Shape;354;p40"/>
          <p:cNvSpPr/>
          <p:nvPr/>
        </p:nvSpPr>
        <p:spPr>
          <a:xfrm>
            <a:off x="319750" y="2336899"/>
            <a:ext cx="343200" cy="34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71700" tIns="71700" rIns="71700" bIns="71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0"/>
          <p:cNvSpPr/>
          <p:nvPr/>
        </p:nvSpPr>
        <p:spPr>
          <a:xfrm>
            <a:off x="1331375" y="2336899"/>
            <a:ext cx="343200" cy="34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71700" tIns="71700" rIns="71700" bIns="71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40"/>
          <p:cNvSpPr/>
          <p:nvPr/>
        </p:nvSpPr>
        <p:spPr>
          <a:xfrm>
            <a:off x="825563" y="2335899"/>
            <a:ext cx="343200" cy="34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71700" tIns="71700" rIns="71700" bIns="71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7" name="Google Shape;357;p40"/>
          <p:cNvGrpSpPr/>
          <p:nvPr/>
        </p:nvGrpSpPr>
        <p:grpSpPr>
          <a:xfrm>
            <a:off x="388192" y="2399262"/>
            <a:ext cx="216482" cy="216461"/>
            <a:chOff x="3368074" y="3882537"/>
            <a:chExt cx="215298" cy="215298"/>
          </a:xfrm>
        </p:grpSpPr>
        <p:sp>
          <p:nvSpPr>
            <p:cNvPr id="358" name="Google Shape;358;p40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71700" tIns="71700" rIns="71700" bIns="71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40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71700" tIns="71700" rIns="71700" bIns="71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40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71700" tIns="71700" rIns="71700" bIns="71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" name="Google Shape;361;p40"/>
          <p:cNvGrpSpPr/>
          <p:nvPr/>
        </p:nvGrpSpPr>
        <p:grpSpPr>
          <a:xfrm>
            <a:off x="1398384" y="2413935"/>
            <a:ext cx="209249" cy="187115"/>
            <a:chOff x="3824739" y="3890112"/>
            <a:chExt cx="208105" cy="186110"/>
          </a:xfrm>
        </p:grpSpPr>
        <p:sp>
          <p:nvSpPr>
            <p:cNvPr id="362" name="Google Shape;362;p40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71700" tIns="71700" rIns="71700" bIns="71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0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71700" tIns="71700" rIns="71700" bIns="71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40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71700" tIns="71700" rIns="71700" bIns="7170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5" name="Google Shape;365;p40"/>
          <p:cNvSpPr txBox="1"/>
          <p:nvPr/>
        </p:nvSpPr>
        <p:spPr>
          <a:xfrm>
            <a:off x="228600" y="3489409"/>
            <a:ext cx="25722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Please keep this slide for attribution</a:t>
            </a:r>
            <a:endParaRPr sz="10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66" name="Google Shape;366;p40"/>
          <p:cNvSpPr/>
          <p:nvPr/>
        </p:nvSpPr>
        <p:spPr>
          <a:xfrm>
            <a:off x="919001" y="2426674"/>
            <a:ext cx="155839" cy="159260"/>
          </a:xfrm>
          <a:custGeom>
            <a:avLst/>
            <a:gdLst/>
            <a:ahLst/>
            <a:cxnLst/>
            <a:rect l="l" t="t" r="r" b="b"/>
            <a:pathLst>
              <a:path w="494728" h="505587" extrusionOk="0">
                <a:moveTo>
                  <a:pt x="294418" y="214122"/>
                </a:moveTo>
                <a:lnTo>
                  <a:pt x="478631" y="0"/>
                </a:lnTo>
                <a:lnTo>
                  <a:pt x="435007" y="0"/>
                </a:lnTo>
                <a:lnTo>
                  <a:pt x="275082" y="185928"/>
                </a:lnTo>
                <a:lnTo>
                  <a:pt x="147352" y="0"/>
                </a:lnTo>
                <a:lnTo>
                  <a:pt x="0" y="0"/>
                </a:lnTo>
                <a:lnTo>
                  <a:pt x="193167" y="281083"/>
                </a:lnTo>
                <a:lnTo>
                  <a:pt x="0" y="505587"/>
                </a:lnTo>
                <a:lnTo>
                  <a:pt x="43625" y="505587"/>
                </a:lnTo>
                <a:lnTo>
                  <a:pt x="212503" y="309277"/>
                </a:lnTo>
                <a:lnTo>
                  <a:pt x="347377" y="505587"/>
                </a:lnTo>
                <a:lnTo>
                  <a:pt x="494729" y="505587"/>
                </a:lnTo>
                <a:lnTo>
                  <a:pt x="294418" y="214027"/>
                </a:lnTo>
                <a:lnTo>
                  <a:pt x="294418" y="214027"/>
                </a:lnTo>
                <a:close/>
                <a:moveTo>
                  <a:pt x="234601" y="283655"/>
                </a:moveTo>
                <a:lnTo>
                  <a:pt x="215075" y="255651"/>
                </a:lnTo>
                <a:lnTo>
                  <a:pt x="59341" y="32861"/>
                </a:lnTo>
                <a:lnTo>
                  <a:pt x="126397" y="32861"/>
                </a:lnTo>
                <a:lnTo>
                  <a:pt x="252032" y="212598"/>
                </a:lnTo>
                <a:lnTo>
                  <a:pt x="271558" y="240601"/>
                </a:lnTo>
                <a:lnTo>
                  <a:pt x="434912" y="474250"/>
                </a:lnTo>
                <a:lnTo>
                  <a:pt x="367855" y="474250"/>
                </a:lnTo>
                <a:lnTo>
                  <a:pt x="234505" y="283559"/>
                </a:lnTo>
                <a:lnTo>
                  <a:pt x="234505" y="28355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71700" tIns="35825" rIns="71700" bIns="358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1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2D36A8C-2504-64B9-C465-3B21CC5B69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28600" y="2097741"/>
            <a:ext cx="2826250" cy="194713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ject roadmaps by Slidesgo">
  <a:themeElements>
    <a:clrScheme name="Simple Light">
      <a:dk1>
        <a:srgbClr val="161616"/>
      </a:dk1>
      <a:lt1>
        <a:srgbClr val="F0F0F0"/>
      </a:lt1>
      <a:dk2>
        <a:srgbClr val="161616"/>
      </a:dk2>
      <a:lt2>
        <a:srgbClr val="C2C2C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6161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602</Words>
  <Application>Microsoft Office PowerPoint</Application>
  <PresentationFormat>Presentación en pantalla (16:9)</PresentationFormat>
  <Paragraphs>107</Paragraphs>
  <Slides>13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12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13</vt:i4>
      </vt:variant>
    </vt:vector>
  </HeadingPairs>
  <TitlesOfParts>
    <vt:vector size="27" baseType="lpstr">
      <vt:lpstr>Bricolage Grotesque</vt:lpstr>
      <vt:lpstr>Bricolage Grotesque Medium</vt:lpstr>
      <vt:lpstr>Open Sans Light</vt:lpstr>
      <vt:lpstr>Arial</vt:lpstr>
      <vt:lpstr>Bricolage Grotesque ExtraLight</vt:lpstr>
      <vt:lpstr>Open Sans</vt:lpstr>
      <vt:lpstr>Raleway</vt:lpstr>
      <vt:lpstr>Inter</vt:lpstr>
      <vt:lpstr>Calibri</vt:lpstr>
      <vt:lpstr>Anaheim</vt:lpstr>
      <vt:lpstr>Nunito Light</vt:lpstr>
      <vt:lpstr>Heebo</vt:lpstr>
      <vt:lpstr>Project roadmaps by Slidesgo</vt:lpstr>
      <vt:lpstr>Slidesgo Final Pages</vt:lpstr>
      <vt:lpstr>POO (Java) Sistema HAS</vt:lpstr>
      <vt:lpstr>Agenda</vt:lpstr>
      <vt:lpstr>El problema</vt:lpstr>
      <vt:lpstr>Manual vs Sistema</vt:lpstr>
      <vt:lpstr>Objetivo y alcance Centralizar clientes, productos y ventas</vt:lpstr>
      <vt:lpstr>Arquitectura del sistema</vt:lpstr>
      <vt:lpstr>Diseño orientado a objetos</vt:lpstr>
      <vt:lpstr>Persistencia y JDBC</vt:lpstr>
      <vt:lpstr>Interfaz gráfica (demo)</vt:lpstr>
      <vt:lpstr>Resultados</vt:lpstr>
      <vt:lpstr>Distribución de RF por módulo</vt:lpstr>
      <vt:lpstr>Conclusión final</vt:lpstr>
      <vt:lpstr>Gracias -------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Berlitz Perú Support</cp:lastModifiedBy>
  <cp:revision>8</cp:revision>
  <dcterms:modified xsi:type="dcterms:W3CDTF">2026-07-04T14:41:49Z</dcterms:modified>
</cp:coreProperties>
</file>